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DwiMzOouptENoUsVCzdwLY99k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D3818C-4761-44A7-8FDD-19982D2B4A81}">
  <a:tblStyle styleId="{D1D3818C-4761-44A7-8FDD-19982D2B4A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customschemas.google.com/relationships/presentationmetadata" Target="meta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976c3bf3863a57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4976c3bf3863a5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4976c3bf3863a571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4976c3bf3863a57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976c3bf3863a571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4976c3bf3863a57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4976c3bf3863a571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4976c3bf3863a57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4976c3bf3863a571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4976c3bf3863a57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4976c3bf3863a571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4976c3bf3863a57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29e629b4cd940c0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29e629b4cd940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29e629b4cd940c0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29e629b4cd940c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2133f492c0230d5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2133f492c0230d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2133f492c0230d5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2133f492c0230d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2133f492c0230d5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2133f492c0230d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2133f492c0230d5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2133f492c0230d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2133f492c0230d5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2133f492c0230d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69076407ddf59f40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69076407ddf59f4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29e629b4cd940c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29e629b4cd940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29e629b4cd940c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29e629b4cd940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5e19b5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b5e19b50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938617" y="68366"/>
            <a:ext cx="1153682" cy="1145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1118" y="5322193"/>
            <a:ext cx="969764" cy="969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83841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0938617" y="68366"/>
            <a:ext cx="1153682" cy="1145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1118" y="156052"/>
            <a:ext cx="969764" cy="969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8200" y="365125"/>
            <a:ext cx="83841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9788" y="365125"/>
            <a:ext cx="84783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838200" y="365125"/>
            <a:ext cx="83841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838200" y="365125"/>
            <a:ext cx="83841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 rot="5400000">
            <a:off x="7477737" y="2300900"/>
            <a:ext cx="5123226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83841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b="0" i="0" sz="4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 flipH="1">
            <a:off x="9091749" y="1233082"/>
            <a:ext cx="3100251" cy="476971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360000" cy="360000"/>
          </a:xfrm>
          <a:prstGeom prst="diagStripe">
            <a:avLst>
              <a:gd fmla="val 75796" name="adj"/>
            </a:avLst>
          </a:prstGeom>
          <a:solidFill>
            <a:srgbClr val="822433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540000" cy="540000"/>
          </a:xfrm>
          <a:prstGeom prst="diagStripe">
            <a:avLst>
              <a:gd fmla="val 83292" name="adj"/>
            </a:avLst>
          </a:prstGeom>
          <a:solidFill>
            <a:srgbClr val="822433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401888" y="1943100"/>
            <a:ext cx="79200" cy="4914900"/>
          </a:xfrm>
          <a:prstGeom prst="rect">
            <a:avLst/>
          </a:prstGeom>
          <a:solidFill>
            <a:srgbClr val="822433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241253" y="1441450"/>
            <a:ext cx="79200" cy="5416550"/>
          </a:xfrm>
          <a:prstGeom prst="rect">
            <a:avLst/>
          </a:prstGeom>
          <a:solidFill>
            <a:srgbClr val="822433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1922000" y="6590359"/>
            <a:ext cx="540000" cy="540000"/>
          </a:xfrm>
          <a:prstGeom prst="blockArc">
            <a:avLst>
              <a:gd fmla="val 10825804" name="adj1"/>
              <a:gd fmla="val 16232134" name="adj2"/>
              <a:gd fmla="val 13566" name="adj3"/>
            </a:avLst>
          </a:prstGeom>
          <a:solidFill>
            <a:srgbClr val="822433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11742000" y="6408000"/>
            <a:ext cx="900000" cy="900000"/>
          </a:xfrm>
          <a:prstGeom prst="blockArc">
            <a:avLst>
              <a:gd fmla="val 10778727" name="adj1"/>
              <a:gd fmla="val 16191509" name="adj2"/>
              <a:gd fmla="val 9334" name="adj3"/>
            </a:avLst>
          </a:prstGeom>
          <a:solidFill>
            <a:srgbClr val="822433">
              <a:alpha val="8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4714" y="136525"/>
            <a:ext cx="969764" cy="96976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gif"/><Relationship Id="rId5" Type="http://schemas.openxmlformats.org/officeDocument/2006/relationships/hyperlink" Target="https://github.com/GianmariaRomano/Gait-ViV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</a:pPr>
            <a:r>
              <a:rPr lang="it-IT" sz="3600"/>
              <a:t>Gait-ViViT: A Video Processing Model for Parkinson’s Disease Detection</a:t>
            </a:r>
            <a:endParaRPr sz="3600"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Gianmaria Romano - 2105539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Supervisor: Professor Marco Raoul Marini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Applied Computer Science and Artificial Intelligence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Sapienza University of Rome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Academic Year 2025/2026</a:t>
            </a:r>
            <a:endParaRPr sz="2000"/>
          </a:p>
        </p:txBody>
      </p:sp>
      <p:sp>
        <p:nvSpPr>
          <p:cNvPr id="98" name="Google Shape;9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976c3bf3863a571_0_0"/>
          <p:cNvSpPr txBox="1"/>
          <p:nvPr>
            <p:ph type="title"/>
          </p:nvPr>
        </p:nvSpPr>
        <p:spPr>
          <a:xfrm>
            <a:off x="1903950" y="351825"/>
            <a:ext cx="8384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Roadmap</a:t>
            </a:r>
            <a:endParaRPr/>
          </a:p>
        </p:txBody>
      </p:sp>
      <p:sp>
        <p:nvSpPr>
          <p:cNvPr id="104" name="Google Shape;104;h4976c3bf3863a571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5" name="Google Shape;105;h4976c3bf3863a571_0_0"/>
          <p:cNvSpPr/>
          <p:nvPr/>
        </p:nvSpPr>
        <p:spPr>
          <a:xfrm>
            <a:off x="908088" y="2583375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h4976c3bf3863a571_0_0"/>
          <p:cNvSpPr txBox="1"/>
          <p:nvPr/>
        </p:nvSpPr>
        <p:spPr>
          <a:xfrm>
            <a:off x="781638" y="2583375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h4976c3bf3863a571_0_0"/>
          <p:cNvSpPr/>
          <p:nvPr/>
        </p:nvSpPr>
        <p:spPr>
          <a:xfrm>
            <a:off x="3990138" y="2583375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h4976c3bf3863a571_0_0"/>
          <p:cNvSpPr txBox="1"/>
          <p:nvPr/>
        </p:nvSpPr>
        <p:spPr>
          <a:xfrm>
            <a:off x="3863688" y="2583375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h4976c3bf3863a571_0_0"/>
          <p:cNvSpPr/>
          <p:nvPr/>
        </p:nvSpPr>
        <p:spPr>
          <a:xfrm>
            <a:off x="7256263" y="2583375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h4976c3bf3863a571_0_0"/>
          <p:cNvSpPr txBox="1"/>
          <p:nvPr/>
        </p:nvSpPr>
        <p:spPr>
          <a:xfrm>
            <a:off x="7129813" y="2583375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h4976c3bf3863a571_0_0"/>
          <p:cNvSpPr/>
          <p:nvPr/>
        </p:nvSpPr>
        <p:spPr>
          <a:xfrm>
            <a:off x="10338313" y="2583375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h4976c3bf3863a571_0_0"/>
          <p:cNvSpPr txBox="1"/>
          <p:nvPr/>
        </p:nvSpPr>
        <p:spPr>
          <a:xfrm>
            <a:off x="10211863" y="2583375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h4976c3bf3863a571_0_0"/>
          <p:cNvSpPr/>
          <p:nvPr/>
        </p:nvSpPr>
        <p:spPr>
          <a:xfrm>
            <a:off x="2449100" y="4469863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h4976c3bf3863a571_0_0"/>
          <p:cNvSpPr txBox="1"/>
          <p:nvPr/>
        </p:nvSpPr>
        <p:spPr>
          <a:xfrm>
            <a:off x="2322650" y="4469863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h4976c3bf3863a571_0_0"/>
          <p:cNvSpPr/>
          <p:nvPr/>
        </p:nvSpPr>
        <p:spPr>
          <a:xfrm>
            <a:off x="5531150" y="4469863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h4976c3bf3863a571_0_0"/>
          <p:cNvSpPr txBox="1"/>
          <p:nvPr/>
        </p:nvSpPr>
        <p:spPr>
          <a:xfrm>
            <a:off x="5404700" y="4469863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h4976c3bf3863a571_0_0"/>
          <p:cNvSpPr/>
          <p:nvPr/>
        </p:nvSpPr>
        <p:spPr>
          <a:xfrm>
            <a:off x="8797275" y="4469863"/>
            <a:ext cx="945600" cy="91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h4976c3bf3863a571_0_0"/>
          <p:cNvSpPr txBox="1"/>
          <p:nvPr/>
        </p:nvSpPr>
        <p:spPr>
          <a:xfrm>
            <a:off x="8670825" y="4469863"/>
            <a:ext cx="11985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822433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b="1" sz="2400">
              <a:solidFill>
                <a:srgbClr val="8224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h4976c3bf3863a571_0_0"/>
          <p:cNvSpPr txBox="1"/>
          <p:nvPr/>
        </p:nvSpPr>
        <p:spPr>
          <a:xfrm>
            <a:off x="526650" y="1745850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Aims and Scope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h4976c3bf3863a571_0_0"/>
          <p:cNvSpPr txBox="1"/>
          <p:nvPr/>
        </p:nvSpPr>
        <p:spPr>
          <a:xfrm>
            <a:off x="3608700" y="1745850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h4976c3bf3863a571_0_0"/>
          <p:cNvSpPr txBox="1"/>
          <p:nvPr/>
        </p:nvSpPr>
        <p:spPr>
          <a:xfrm>
            <a:off x="6874825" y="1745850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Video Processing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h4976c3bf3863a571_0_0"/>
          <p:cNvSpPr txBox="1"/>
          <p:nvPr/>
        </p:nvSpPr>
        <p:spPr>
          <a:xfrm>
            <a:off x="9956875" y="1745850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Rendering and Preprocessing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h4976c3bf3863a571_0_0"/>
          <p:cNvSpPr txBox="1"/>
          <p:nvPr/>
        </p:nvSpPr>
        <p:spPr>
          <a:xfrm>
            <a:off x="2067650" y="5484825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Implementation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h4976c3bf3863a571_0_0"/>
          <p:cNvSpPr txBox="1"/>
          <p:nvPr/>
        </p:nvSpPr>
        <p:spPr>
          <a:xfrm>
            <a:off x="5149700" y="5484825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Configuration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h4976c3bf3863a571_0_0"/>
          <p:cNvSpPr txBox="1"/>
          <p:nvPr/>
        </p:nvSpPr>
        <p:spPr>
          <a:xfrm>
            <a:off x="8415825" y="5487963"/>
            <a:ext cx="1708500" cy="769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Evaluation and Conclusions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976c3bf3863a571_0_5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Aims and Scope</a:t>
            </a:r>
            <a:endParaRPr/>
          </a:p>
        </p:txBody>
      </p:sp>
      <p:pic>
        <p:nvPicPr>
          <p:cNvPr id="131" name="Google Shape;131;h4976c3bf3863a571_0_50" title="Screenshot 2026-09-28 8.51.26 A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00" l="0" r="0" t="1000"/>
          <a:stretch/>
        </p:blipFill>
        <p:spPr>
          <a:xfrm>
            <a:off x="5183188" y="987425"/>
            <a:ext cx="6172199" cy="48735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h4976c3bf3863a571_0_50"/>
          <p:cNvSpPr txBox="1"/>
          <p:nvPr>
            <p:ph idx="1" type="body"/>
          </p:nvPr>
        </p:nvSpPr>
        <p:spPr>
          <a:xfrm>
            <a:off x="839800" y="2057400"/>
            <a:ext cx="4142100" cy="30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Parkinson’s disease is a neurodegenerative disease of the central nervous system whose symptoms include </a:t>
            </a:r>
            <a:r>
              <a:rPr b="1" lang="it-IT"/>
              <a:t>hyperkinetic and hypokinetic features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While current disease assessments remain subjective, recent research suggests that </a:t>
            </a:r>
            <a:r>
              <a:rPr b="1" lang="it-IT"/>
              <a:t>computer vision assessments</a:t>
            </a:r>
            <a:r>
              <a:rPr lang="it-IT"/>
              <a:t> can provide an objective alternative.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For this reason, this project aims to </a:t>
            </a:r>
            <a:r>
              <a:rPr b="1" lang="it-IT"/>
              <a:t>adapt existing video processing models to gait-based Parkinson’s disease detection</a:t>
            </a:r>
            <a:r>
              <a:rPr lang="it-IT"/>
              <a:t>.</a:t>
            </a:r>
            <a:endParaRPr/>
          </a:p>
        </p:txBody>
      </p:sp>
      <p:sp>
        <p:nvSpPr>
          <p:cNvPr id="133" name="Google Shape;133;h4976c3bf3863a571_0_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descr="a silhouette of a cat with a tail in a black circle (Fornito da Tenor)" id="134" name="Google Shape;134;h4976c3bf3863a571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75" y="5944000"/>
            <a:ext cx="777450" cy="7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h4976c3bf3863a571_0_50"/>
          <p:cNvSpPr txBox="1"/>
          <p:nvPr/>
        </p:nvSpPr>
        <p:spPr>
          <a:xfrm>
            <a:off x="1785875" y="6141850"/>
            <a:ext cx="52599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https://github.com/GianmariaRomano/Gait-ViViT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4976c3bf3863a571_0_59"/>
          <p:cNvSpPr txBox="1"/>
          <p:nvPr>
            <p:ph type="title"/>
          </p:nvPr>
        </p:nvSpPr>
        <p:spPr>
          <a:xfrm>
            <a:off x="839788" y="365125"/>
            <a:ext cx="8478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Datasets</a:t>
            </a:r>
            <a:endParaRPr/>
          </a:p>
        </p:txBody>
      </p:sp>
      <p:sp>
        <p:nvSpPr>
          <p:cNvPr id="141" name="Google Shape;141;h4976c3bf3863a571_0_5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/>
              <a:t>Kaggle MMU Visual-Based Parkinson’s Disease Dataset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/>
              <a:t>Connie et al., 2022</a:t>
            </a:r>
            <a:endParaRPr sz="1500"/>
          </a:p>
        </p:txBody>
      </p:sp>
      <p:sp>
        <p:nvSpPr>
          <p:cNvPr id="142" name="Google Shape;142;h4976c3bf3863a571_0_59"/>
          <p:cNvSpPr txBox="1"/>
          <p:nvPr>
            <p:ph idx="2" type="body"/>
          </p:nvPr>
        </p:nvSpPr>
        <p:spPr>
          <a:xfrm>
            <a:off x="839800" y="2505075"/>
            <a:ext cx="5157900" cy="68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600"/>
              <a:t>This dataset contains </a:t>
            </a:r>
            <a:r>
              <a:rPr b="1" lang="it-IT" sz="1600"/>
              <a:t>150 files of healthy subjects</a:t>
            </a:r>
            <a:r>
              <a:rPr lang="it-IT" sz="1600"/>
              <a:t> and </a:t>
            </a:r>
            <a:r>
              <a:rPr b="1" lang="it-IT" sz="1600"/>
              <a:t>142 files of patients with Parkinson’s disease</a:t>
            </a:r>
            <a:r>
              <a:rPr lang="it-IT" sz="1600"/>
              <a:t>.</a:t>
            </a:r>
            <a:endParaRPr sz="1600"/>
          </a:p>
        </p:txBody>
      </p:sp>
      <p:sp>
        <p:nvSpPr>
          <p:cNvPr id="143" name="Google Shape;143;h4976c3bf3863a571_0_5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/>
              <a:t>F-BioGate Dataset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/>
              <a:t>Musso et al., 2026</a:t>
            </a:r>
            <a:endParaRPr sz="1500"/>
          </a:p>
        </p:txBody>
      </p:sp>
      <p:sp>
        <p:nvSpPr>
          <p:cNvPr id="144" name="Google Shape;144;h4976c3bf3863a571_0_59"/>
          <p:cNvSpPr txBox="1"/>
          <p:nvPr>
            <p:ph idx="4" type="body"/>
          </p:nvPr>
        </p:nvSpPr>
        <p:spPr>
          <a:xfrm>
            <a:off x="6172203" y="2505075"/>
            <a:ext cx="5183100" cy="68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600"/>
              <a:t>This dataset contains </a:t>
            </a:r>
            <a:r>
              <a:rPr b="1" lang="it-IT" sz="1600"/>
              <a:t>2448 videos</a:t>
            </a:r>
            <a:r>
              <a:rPr lang="it-IT" sz="1600"/>
              <a:t>, which come in different formats, representing </a:t>
            </a:r>
            <a:r>
              <a:rPr b="1" lang="it-IT" sz="1600"/>
              <a:t>healthy subjects</a:t>
            </a:r>
            <a:r>
              <a:rPr lang="it-IT" sz="1600"/>
              <a:t>.</a:t>
            </a:r>
            <a:endParaRPr sz="1600"/>
          </a:p>
        </p:txBody>
      </p:sp>
      <p:sp>
        <p:nvSpPr>
          <p:cNvPr id="145" name="Google Shape;145;h4976c3bf3863a571_0_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6" name="Google Shape;146;h4976c3bf3863a571_0_59"/>
          <p:cNvSpPr txBox="1"/>
          <p:nvPr>
            <p:ph idx="2" type="body"/>
          </p:nvPr>
        </p:nvSpPr>
        <p:spPr>
          <a:xfrm>
            <a:off x="838250" y="3363250"/>
            <a:ext cx="5157900" cy="13572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it-IT" sz="1600"/>
              <a:t>Strengths</a:t>
            </a:r>
            <a:endParaRPr b="1"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Samples for both healthy and sick subjects are provided.</a:t>
            </a:r>
            <a:endParaRPr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Sick subjects can exhibit various degrees of the disease, allowing for generalization.</a:t>
            </a:r>
            <a:endParaRPr sz="1600"/>
          </a:p>
        </p:txBody>
      </p:sp>
      <p:sp>
        <p:nvSpPr>
          <p:cNvPr id="147" name="Google Shape;147;h4976c3bf3863a571_0_59"/>
          <p:cNvSpPr txBox="1"/>
          <p:nvPr>
            <p:ph idx="4" type="body"/>
          </p:nvPr>
        </p:nvSpPr>
        <p:spPr>
          <a:xfrm>
            <a:off x="6170653" y="3363250"/>
            <a:ext cx="5183100" cy="13572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it-IT" sz="1600"/>
              <a:t>Strengths</a:t>
            </a:r>
            <a:endParaRPr b="1"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The dataset is very large, allowing to achieve more reliable results during training.</a:t>
            </a:r>
            <a:endParaRPr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The dataset shows a wide range of actions and subjects, increasing data diversity.</a:t>
            </a:r>
            <a:endParaRPr sz="1600"/>
          </a:p>
        </p:txBody>
      </p:sp>
      <p:sp>
        <p:nvSpPr>
          <p:cNvPr id="148" name="Google Shape;148;h4976c3bf3863a571_0_59"/>
          <p:cNvSpPr txBox="1"/>
          <p:nvPr>
            <p:ph idx="2" type="body"/>
          </p:nvPr>
        </p:nvSpPr>
        <p:spPr>
          <a:xfrm>
            <a:off x="838250" y="5091600"/>
            <a:ext cx="5157900" cy="11034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it-IT" sz="1600"/>
              <a:t>Limitations</a:t>
            </a:r>
            <a:endParaRPr b="1"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The dataset is too small to be used alone.</a:t>
            </a:r>
            <a:endParaRPr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Only coordinate keypoints are provided, requiring to create synthetic renderings.</a:t>
            </a:r>
            <a:endParaRPr sz="1600"/>
          </a:p>
        </p:txBody>
      </p:sp>
      <p:sp>
        <p:nvSpPr>
          <p:cNvPr id="149" name="Google Shape;149;h4976c3bf3863a571_0_59"/>
          <p:cNvSpPr txBox="1"/>
          <p:nvPr>
            <p:ph idx="4" type="body"/>
          </p:nvPr>
        </p:nvSpPr>
        <p:spPr>
          <a:xfrm>
            <a:off x="6170651" y="5091600"/>
            <a:ext cx="5183100" cy="11034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it-IT" sz="1600"/>
              <a:t>Limitations</a:t>
            </a:r>
            <a:endParaRPr b="1"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This dataset contains healthy subjects only.</a:t>
            </a:r>
            <a:endParaRPr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it-IT" sz="1600"/>
              <a:t>To avoid bias, only RGB videos can be used, still requiring renderings for consistency.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4976c3bf3863a571_0_8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Video Processing</a:t>
            </a:r>
            <a:endParaRPr/>
          </a:p>
        </p:txBody>
      </p:sp>
      <p:pic>
        <p:nvPicPr>
          <p:cNvPr id="155" name="Google Shape;155;h4976c3bf3863a571_0_80" title="video_vision_transformer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188" y="2395475"/>
            <a:ext cx="6172200" cy="20574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h4976c3bf3863a571_0_80"/>
          <p:cNvSpPr txBox="1"/>
          <p:nvPr>
            <p:ph idx="1" type="body"/>
          </p:nvPr>
        </p:nvSpPr>
        <p:spPr>
          <a:xfrm>
            <a:off x="839800" y="2057400"/>
            <a:ext cx="3932100" cy="252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Computer vision deals with </a:t>
            </a:r>
            <a:r>
              <a:rPr b="1" lang="it-IT"/>
              <a:t>extracting and processing information from digital images and videos</a:t>
            </a:r>
            <a:r>
              <a:rPr lang="it-IT"/>
              <a:t> using machine learning techniques.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Current research is shifting its focus </a:t>
            </a:r>
            <a:r>
              <a:rPr b="1" lang="it-IT"/>
              <a:t>from convolutional neural networks to transformer-based architectures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/>
              <a:t>Example:</a:t>
            </a:r>
            <a:r>
              <a:rPr lang="it-IT"/>
              <a:t> </a:t>
            </a:r>
            <a:r>
              <a:rPr lang="it-IT"/>
              <a:t>Arnab et al.’s </a:t>
            </a:r>
            <a:r>
              <a:rPr i="1" lang="it-IT"/>
              <a:t>Video Vision Transformer</a:t>
            </a:r>
            <a:r>
              <a:rPr lang="it-IT"/>
              <a:t> model</a:t>
            </a:r>
            <a:r>
              <a:rPr lang="it-IT"/>
              <a:t>.</a:t>
            </a:r>
            <a:endParaRPr/>
          </a:p>
        </p:txBody>
      </p:sp>
      <p:sp>
        <p:nvSpPr>
          <p:cNvPr id="157" name="Google Shape;157;h4976c3bf3863a571_0_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h4976c3bf3863a571_0_72" title="kaggle_sample.gif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383" r="14376" t="0"/>
          <a:stretch/>
        </p:blipFill>
        <p:spPr>
          <a:xfrm>
            <a:off x="5317750" y="1124000"/>
            <a:ext cx="6036051" cy="47660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h4976c3bf3863a571_0_7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Video Rendering</a:t>
            </a:r>
            <a:endParaRPr/>
          </a:p>
        </p:txBody>
      </p:sp>
      <p:sp>
        <p:nvSpPr>
          <p:cNvPr id="164" name="Google Shape;164;h4976c3bf3863a571_0_72"/>
          <p:cNvSpPr txBox="1"/>
          <p:nvPr>
            <p:ph idx="1" type="body"/>
          </p:nvPr>
        </p:nvSpPr>
        <p:spPr>
          <a:xfrm>
            <a:off x="839800" y="2057400"/>
            <a:ext cx="3932100" cy="289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Synthetic videos are created by </a:t>
            </a:r>
            <a:r>
              <a:rPr b="1" lang="it-IT"/>
              <a:t>extracting keypoint coordinates</a:t>
            </a:r>
            <a:r>
              <a:rPr lang="it-IT"/>
              <a:t> and </a:t>
            </a:r>
            <a:r>
              <a:rPr b="1" lang="it-IT"/>
              <a:t>processing them</a:t>
            </a:r>
            <a:r>
              <a:rPr lang="it-IT"/>
              <a:t> using dedicated Python </a:t>
            </a:r>
            <a:r>
              <a:rPr lang="it-IT"/>
              <a:t>libraries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To avoid capturing noise, keypoints are drawn on a frame </a:t>
            </a:r>
            <a:r>
              <a:rPr b="1" lang="it-IT"/>
              <a:t>if and only if the sampling confidence score meets a chosen threshold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rendered video is made readable and stored in a dedicated dataframe.</a:t>
            </a:r>
            <a:endParaRPr/>
          </a:p>
        </p:txBody>
      </p:sp>
      <p:sp>
        <p:nvSpPr>
          <p:cNvPr id="165" name="Google Shape;165;h4976c3bf3863a571_0_72"/>
          <p:cNvSpPr txBox="1"/>
          <p:nvPr/>
        </p:nvSpPr>
        <p:spPr>
          <a:xfrm>
            <a:off x="5181600" y="6141875"/>
            <a:ext cx="6172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Rendered skeleton of a subject from the </a:t>
            </a:r>
            <a:r>
              <a:rPr b="1"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Kaggle MMU Dataset</a:t>
            </a:r>
            <a:r>
              <a:rPr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h4976c3bf3863a571_0_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976c3bf3863a571_0_87"/>
          <p:cNvSpPr txBox="1"/>
          <p:nvPr>
            <p:ph type="title"/>
          </p:nvPr>
        </p:nvSpPr>
        <p:spPr>
          <a:xfrm>
            <a:off x="838200" y="365125"/>
            <a:ext cx="9723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Frame Extraction and Preprocessing</a:t>
            </a:r>
            <a:endParaRPr/>
          </a:p>
        </p:txBody>
      </p:sp>
      <p:sp>
        <p:nvSpPr>
          <p:cNvPr id="172" name="Google Shape;172;h4976c3bf3863a571_0_87"/>
          <p:cNvSpPr txBox="1"/>
          <p:nvPr>
            <p:ph idx="1" type="body"/>
          </p:nvPr>
        </p:nvSpPr>
        <p:spPr>
          <a:xfrm>
            <a:off x="838200" y="1825625"/>
            <a:ext cx="10515600" cy="267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Frame extraction is performed using </a:t>
            </a:r>
            <a:r>
              <a:rPr b="1" lang="it-IT" sz="1800"/>
              <a:t>confidence-based uniform frame sampling</a:t>
            </a:r>
            <a:r>
              <a:rPr lang="it-IT" sz="1800"/>
              <a:t>.</a:t>
            </a:r>
            <a:endParaRPr sz="1800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After removing corrupted or noisy frames, </a:t>
            </a:r>
            <a:r>
              <a:rPr b="1" lang="it-IT" sz="1800"/>
              <a:t>32 frames are uniformly sampled from the input video</a:t>
            </a:r>
            <a:r>
              <a:rPr lang="it-IT" sz="1800"/>
              <a:t>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Each frame is read and </a:t>
            </a:r>
            <a:r>
              <a:rPr b="1" lang="it-IT" sz="1800"/>
              <a:t>cleaned using a median blur filter</a:t>
            </a:r>
            <a:r>
              <a:rPr lang="it-IT" sz="1800"/>
              <a:t> before being </a:t>
            </a:r>
            <a:r>
              <a:rPr b="1" lang="it-IT" sz="1800"/>
              <a:t>resized to the target shape (224, 224)</a:t>
            </a:r>
            <a:r>
              <a:rPr lang="it-IT" sz="1800"/>
              <a:t>.</a:t>
            </a:r>
            <a:endParaRPr sz="18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If a frame could not be read, it is replaced by duplicating an adjacent frame or using a black placeholder frame.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For each valid video, the sequence of extracted frames is </a:t>
            </a:r>
            <a:r>
              <a:rPr b="1" lang="it-IT" sz="1800"/>
              <a:t>converted into a PyTorch tensor</a:t>
            </a:r>
            <a:r>
              <a:rPr lang="it-IT" sz="1800"/>
              <a:t> and saved in a dataframe that will be used during training.</a:t>
            </a:r>
            <a:endParaRPr sz="1800"/>
          </a:p>
        </p:txBody>
      </p:sp>
      <p:graphicFrame>
        <p:nvGraphicFramePr>
          <p:cNvPr id="173" name="Google Shape;173;h4976c3bf3863a571_0_87"/>
          <p:cNvGraphicFramePr/>
          <p:nvPr/>
        </p:nvGraphicFramePr>
        <p:xfrm>
          <a:off x="838200" y="495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{D1D3818C-4761-44A7-8FDD-19982D2B4A81}</a:tableStyleId>
              </a:tblPr>
              <a:tblGrid>
                <a:gridCol w="2307075"/>
                <a:gridCol w="230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Source Dataset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Videos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Kaggle MMU Dataset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248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F-BioGate Dataset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814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h4976c3bf3863a571_0_87"/>
          <p:cNvGraphicFramePr/>
          <p:nvPr/>
        </p:nvGraphicFramePr>
        <p:xfrm>
          <a:off x="6739650" y="495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{D1D3818C-4761-44A7-8FDD-19982D2B4A81}</a:tableStyleId>
              </a:tblPr>
              <a:tblGrid>
                <a:gridCol w="2307075"/>
                <a:gridCol w="2307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Class Label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Videos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 (Healthy)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947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 (Parkinson)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115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h4976c3bf3863a571_0_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29e629b4cd940c0_0_59"/>
          <p:cNvSpPr txBox="1"/>
          <p:nvPr>
            <p:ph type="title"/>
          </p:nvPr>
        </p:nvSpPr>
        <p:spPr>
          <a:xfrm>
            <a:off x="839801" y="457200"/>
            <a:ext cx="43434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Model Implementation</a:t>
            </a:r>
            <a:endParaRPr/>
          </a:p>
        </p:txBody>
      </p:sp>
      <p:pic>
        <p:nvPicPr>
          <p:cNvPr id="181" name="Google Shape;181;h29e629b4cd940c0_0_59" title="video_vision_transformer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188" y="2395475"/>
            <a:ext cx="6172200" cy="20574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h29e629b4cd940c0_0_59"/>
          <p:cNvSpPr txBox="1"/>
          <p:nvPr>
            <p:ph idx="1" type="body"/>
          </p:nvPr>
        </p:nvSpPr>
        <p:spPr>
          <a:xfrm>
            <a:off x="839800" y="2057400"/>
            <a:ext cx="4195200" cy="381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chosen architecture will be based on </a:t>
            </a:r>
            <a:r>
              <a:rPr b="1" lang="it-IT"/>
              <a:t>Hugging Face’s VivitForVideoClassification class</a:t>
            </a:r>
            <a:r>
              <a:rPr lang="it-IT"/>
              <a:t>, allowing for transfer learning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model receives a batch of </a:t>
            </a:r>
            <a:r>
              <a:rPr b="1" lang="it-IT"/>
              <a:t>B tensors of shape (C, T, H, W)</a:t>
            </a:r>
            <a:r>
              <a:rPr lang="it-IT"/>
              <a:t> and, after </a:t>
            </a:r>
            <a:r>
              <a:rPr b="1" lang="it-IT"/>
              <a:t>extracting non-overlapping tokens</a:t>
            </a:r>
            <a:r>
              <a:rPr lang="it-IT"/>
              <a:t>, it prepends a </a:t>
            </a:r>
            <a:r>
              <a:rPr b="1" lang="it-IT"/>
              <a:t>classification token</a:t>
            </a:r>
            <a:r>
              <a:rPr lang="it-IT"/>
              <a:t> to the sequence.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extracted sequence passes through the </a:t>
            </a:r>
            <a:r>
              <a:rPr b="1" lang="it-IT"/>
              <a:t>transformer encoder block</a:t>
            </a:r>
            <a:r>
              <a:rPr lang="it-IT"/>
              <a:t>, which alternates between attention blocks and MLPs.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</a:t>
            </a:r>
            <a:r>
              <a:rPr b="1" lang="it-IT"/>
              <a:t>output representation of the classification token</a:t>
            </a:r>
            <a:r>
              <a:rPr lang="it-IT"/>
              <a:t> is passed to the </a:t>
            </a:r>
            <a:r>
              <a:rPr b="1" lang="it-IT"/>
              <a:t>classification head</a:t>
            </a:r>
            <a:r>
              <a:rPr lang="it-IT"/>
              <a:t> to compute logits.</a:t>
            </a:r>
            <a:endParaRPr/>
          </a:p>
        </p:txBody>
      </p:sp>
      <p:sp>
        <p:nvSpPr>
          <p:cNvPr id="183" name="Google Shape;183;h29e629b4cd940c0_0_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29e629b4cd940c0_0_8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Classification Head</a:t>
            </a:r>
            <a:endParaRPr/>
          </a:p>
        </p:txBody>
      </p:sp>
      <p:pic>
        <p:nvPicPr>
          <p:cNvPr id="189" name="Google Shape;189;h29e629b4cd940c0_0_85" title="Screenshot 2026-09-29 10.15.19 AM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188" y="2097213"/>
            <a:ext cx="6172200" cy="2653924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0" name="Google Shape;190;h29e629b4cd940c0_0_85"/>
          <p:cNvSpPr txBox="1"/>
          <p:nvPr>
            <p:ph idx="1" type="body"/>
          </p:nvPr>
        </p:nvSpPr>
        <p:spPr>
          <a:xfrm>
            <a:off x="839800" y="2057400"/>
            <a:ext cx="4102200" cy="293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While the original </a:t>
            </a:r>
            <a:r>
              <a:rPr i="1" lang="it-IT"/>
              <a:t>Video Vision Transformer</a:t>
            </a:r>
            <a:r>
              <a:rPr lang="it-IT"/>
              <a:t> was trained to perform multi-class classification, the goal of this project is to perform </a:t>
            </a:r>
            <a:r>
              <a:rPr b="1" lang="it-IT"/>
              <a:t>binary classification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new classification head consists of a linear layer followed by a ReLU activation and a second linear layer.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Passing</a:t>
            </a:r>
            <a:r>
              <a:rPr lang="it-IT"/>
              <a:t> the classification token to this layer returns a </a:t>
            </a:r>
            <a:r>
              <a:rPr b="1" lang="it-IT"/>
              <a:t>one-dimensional logit</a:t>
            </a:r>
            <a:r>
              <a:rPr lang="it-IT"/>
              <a:t> that will be used to predict the class label.</a:t>
            </a:r>
            <a:endParaRPr/>
          </a:p>
        </p:txBody>
      </p:sp>
      <p:sp>
        <p:nvSpPr>
          <p:cNvPr id="191" name="Google Shape;191;h29e629b4cd940c0_0_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2133f492c0230d5_0_8"/>
          <p:cNvSpPr txBox="1"/>
          <p:nvPr>
            <p:ph type="title"/>
          </p:nvPr>
        </p:nvSpPr>
        <p:spPr>
          <a:xfrm>
            <a:off x="838200" y="365125"/>
            <a:ext cx="8384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Dataset Splitting</a:t>
            </a:r>
            <a:endParaRPr/>
          </a:p>
        </p:txBody>
      </p:sp>
      <p:sp>
        <p:nvSpPr>
          <p:cNvPr id="197" name="Google Shape;197;h2133f492c0230d5_0_8"/>
          <p:cNvSpPr txBox="1"/>
          <p:nvPr>
            <p:ph idx="1" type="body"/>
          </p:nvPr>
        </p:nvSpPr>
        <p:spPr>
          <a:xfrm>
            <a:off x="838200" y="1825625"/>
            <a:ext cx="10515600" cy="258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800"/>
              <a:t>Problems of splitting the dataset as it is:</a:t>
            </a:r>
            <a:endParaRPr sz="1800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Class imbalance between labels.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The risk of data leakage.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The training, validation and testing datasets are created using the </a:t>
            </a:r>
            <a:r>
              <a:rPr b="1" lang="it-IT" sz="1800"/>
              <a:t>StratifiedKFold</a:t>
            </a:r>
            <a:r>
              <a:rPr lang="it-IT" sz="1800"/>
              <a:t> function, which combines </a:t>
            </a:r>
            <a:r>
              <a:rPr b="1" lang="it-IT" sz="1800"/>
              <a:t>K-fold cross-validation</a:t>
            </a:r>
            <a:r>
              <a:rPr lang="it-IT" sz="1800"/>
              <a:t> and </a:t>
            </a:r>
            <a:r>
              <a:rPr b="1" lang="it-IT" sz="1800"/>
              <a:t>stratified sampling</a:t>
            </a:r>
            <a:r>
              <a:rPr lang="it-IT" sz="1800"/>
              <a:t>, splitting with respect to </a:t>
            </a:r>
            <a:r>
              <a:rPr b="1" lang="it-IT" sz="1800"/>
              <a:t>patient IDs</a:t>
            </a:r>
            <a:r>
              <a:rPr lang="it-IT" sz="1800"/>
              <a:t> to avoid data leakage while preserving class distributions.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All the generated folds are used in order to obtain more statistically robust results during training.</a:t>
            </a:r>
            <a:endParaRPr sz="1800"/>
          </a:p>
        </p:txBody>
      </p:sp>
      <p:sp>
        <p:nvSpPr>
          <p:cNvPr id="198" name="Google Shape;198;h2133f492c0230d5_0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aphicFrame>
        <p:nvGraphicFramePr>
          <p:cNvPr id="199" name="Google Shape;199;h2133f492c0230d5_0_8"/>
          <p:cNvGraphicFramePr/>
          <p:nvPr/>
        </p:nvGraphicFramePr>
        <p:xfrm>
          <a:off x="3535900" y="4545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{D1D3818C-4761-44A7-8FDD-19982D2B4A81}</a:tableStyleId>
              </a:tblPr>
              <a:tblGrid>
                <a:gridCol w="1134125"/>
                <a:gridCol w="2279325"/>
                <a:gridCol w="170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Subset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Desired Proportion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Number of Items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Training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70%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≈ 744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Validation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10%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t-IT">
                          <a:solidFill>
                            <a:schemeClr val="dk1"/>
                          </a:solidFill>
                        </a:rPr>
                        <a:t>≈ 106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Testing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20%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t-IT">
                          <a:solidFill>
                            <a:schemeClr val="dk1"/>
                          </a:solidFill>
                        </a:rPr>
                        <a:t>≈ 212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2133f492c0230d5_0_28"/>
          <p:cNvSpPr txBox="1"/>
          <p:nvPr>
            <p:ph type="title"/>
          </p:nvPr>
        </p:nvSpPr>
        <p:spPr>
          <a:xfrm>
            <a:off x="839788" y="365125"/>
            <a:ext cx="8478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Training Configurations</a:t>
            </a:r>
            <a:endParaRPr/>
          </a:p>
        </p:txBody>
      </p:sp>
      <p:sp>
        <p:nvSpPr>
          <p:cNvPr id="205" name="Google Shape;205;h2133f492c0230d5_0_2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Linear Probing</a:t>
            </a:r>
            <a:endParaRPr/>
          </a:p>
        </p:txBody>
      </p:sp>
      <p:sp>
        <p:nvSpPr>
          <p:cNvPr id="206" name="Google Shape;206;h2133f492c0230d5_0_28"/>
          <p:cNvSpPr txBox="1"/>
          <p:nvPr>
            <p:ph idx="2" type="body"/>
          </p:nvPr>
        </p:nvSpPr>
        <p:spPr>
          <a:xfrm>
            <a:off x="839800" y="2505075"/>
            <a:ext cx="5157900" cy="18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Linear probing consists of </a:t>
            </a:r>
            <a:r>
              <a:rPr b="1" lang="it-IT" sz="1800"/>
              <a:t>freezing the backbone and training just the head</a:t>
            </a:r>
            <a:r>
              <a:rPr lang="it-IT" sz="1800"/>
              <a:t>.</a:t>
            </a:r>
            <a:endParaRPr sz="1800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This phase is shorter and uses a more aggressive learning rate during training.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Learning rate scheduling is stabilized using linear warmups.</a:t>
            </a:r>
            <a:endParaRPr sz="1800"/>
          </a:p>
        </p:txBody>
      </p:sp>
      <p:sp>
        <p:nvSpPr>
          <p:cNvPr id="207" name="Google Shape;207;h2133f492c0230d5_0_2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Full Finetuning</a:t>
            </a:r>
            <a:endParaRPr/>
          </a:p>
        </p:txBody>
      </p:sp>
      <p:sp>
        <p:nvSpPr>
          <p:cNvPr id="208" name="Google Shape;208;h2133f492c0230d5_0_28"/>
          <p:cNvSpPr txBox="1"/>
          <p:nvPr>
            <p:ph idx="4" type="body"/>
          </p:nvPr>
        </p:nvSpPr>
        <p:spPr>
          <a:xfrm>
            <a:off x="6172203" y="2505075"/>
            <a:ext cx="5183100" cy="18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Finetuning focuses on </a:t>
            </a:r>
            <a:r>
              <a:rPr b="1" lang="it-IT" sz="1800"/>
              <a:t>training the entire model</a:t>
            </a:r>
            <a:r>
              <a:rPr lang="it-IT" sz="1800"/>
              <a:t> to perform a new task.</a:t>
            </a:r>
            <a:endParaRPr sz="1800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This phase is longer, but, to avoid overfitting, an early stopping mechanism is introduced.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Hyperparameter combinations are explored using grid search.</a:t>
            </a:r>
            <a:endParaRPr sz="1800"/>
          </a:p>
        </p:txBody>
      </p:sp>
      <p:sp>
        <p:nvSpPr>
          <p:cNvPr id="209" name="Google Shape;209;h2133f492c0230d5_0_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aphicFrame>
        <p:nvGraphicFramePr>
          <p:cNvPr id="210" name="Google Shape;210;h2133f492c0230d5_0_28"/>
          <p:cNvGraphicFramePr/>
          <p:nvPr/>
        </p:nvGraphicFramePr>
        <p:xfrm>
          <a:off x="3517050" y="483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{D1D3818C-4761-44A7-8FDD-19982D2B4A81}</a:tableStyleId>
              </a:tblPr>
              <a:tblGrid>
                <a:gridCol w="2578950"/>
                <a:gridCol w="2578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Configuration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200"/>
                        <a:t>Choice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Optimizer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SGD with Weight Decay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Learning Rate Scheduler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Cosine Annealing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Loss Function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Weighted Binary Cross-Entropy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2133f492c0230d5_0_48"/>
          <p:cNvSpPr txBox="1"/>
          <p:nvPr>
            <p:ph type="title"/>
          </p:nvPr>
        </p:nvSpPr>
        <p:spPr>
          <a:xfrm>
            <a:off x="838200" y="365125"/>
            <a:ext cx="8384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Performance Metrics</a:t>
            </a:r>
            <a:endParaRPr/>
          </a:p>
        </p:txBody>
      </p:sp>
      <p:sp>
        <p:nvSpPr>
          <p:cNvPr id="216" name="Google Shape;216;h2133f492c0230d5_0_48"/>
          <p:cNvSpPr txBox="1"/>
          <p:nvPr>
            <p:ph idx="1" type="body"/>
          </p:nvPr>
        </p:nvSpPr>
        <p:spPr>
          <a:xfrm>
            <a:off x="838200" y="1825625"/>
            <a:ext cx="5181600" cy="489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For a more rigorous analysis, various versions of the classification head are used during training.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An ablation study is also conducted in order to investigate the model’s behaviour as the classification threshold varies.</a:t>
            </a:r>
            <a:endParaRPr sz="1800"/>
          </a:p>
        </p:txBody>
      </p:sp>
      <p:sp>
        <p:nvSpPr>
          <p:cNvPr id="217" name="Google Shape;217;h2133f492c0230d5_0_4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Since the model is trained on an </a:t>
            </a:r>
            <a:r>
              <a:rPr lang="it-IT" sz="1800"/>
              <a:t>imbalanced dataset, alternative performance metrics need to be used for performance evaluation.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it-IT" sz="1800"/>
              <a:t>Precision</a:t>
            </a:r>
            <a:endParaRPr b="1" sz="18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The proportion of </a:t>
            </a:r>
            <a:r>
              <a:rPr b="1" lang="it-IT" sz="1800"/>
              <a:t>correct true predictions among all positive predictions</a:t>
            </a:r>
            <a:r>
              <a:rPr lang="it-IT" sz="1800"/>
              <a:t>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it-IT" sz="1800"/>
              <a:t>Recall</a:t>
            </a:r>
            <a:endParaRPr b="1" sz="18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The proportion of </a:t>
            </a:r>
            <a:r>
              <a:rPr b="1" lang="it-IT" sz="1800"/>
              <a:t>correct true predictions among all ground-truth positives</a:t>
            </a:r>
            <a:r>
              <a:rPr lang="it-IT" sz="1800"/>
              <a:t>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it-IT" sz="1800"/>
              <a:t>F1-Score</a:t>
            </a:r>
            <a:endParaRPr b="1" sz="18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/>
              <a:t>A harmonic mean between precision and recall, which will be high only if </a:t>
            </a:r>
            <a:r>
              <a:rPr b="1" lang="it-IT" sz="1800"/>
              <a:t>both metrics are good</a:t>
            </a:r>
            <a:r>
              <a:rPr lang="it-IT" sz="1800"/>
              <a:t>.</a:t>
            </a:r>
            <a:endParaRPr sz="1800"/>
          </a:p>
        </p:txBody>
      </p:sp>
      <p:sp>
        <p:nvSpPr>
          <p:cNvPr id="218" name="Google Shape;218;h2133f492c0230d5_0_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aphicFrame>
        <p:nvGraphicFramePr>
          <p:cNvPr id="219" name="Google Shape;219;h2133f492c0230d5_0_48"/>
          <p:cNvGraphicFramePr/>
          <p:nvPr/>
        </p:nvGraphicFramePr>
        <p:xfrm>
          <a:off x="838200" y="266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{D1D3818C-4761-44A7-8FDD-19982D2B4A81}</a:tableStyleId>
              </a:tblPr>
              <a:tblGrid>
                <a:gridCol w="888250"/>
                <a:gridCol w="2166650"/>
                <a:gridCol w="2126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Version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Upscaling Factor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Activation Function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2.0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ReLU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1.0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ReLU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4.0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ReLU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2.0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GELU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1.0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GELU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4.0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GELU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2133f492c0230d5_0_72"/>
          <p:cNvSpPr txBox="1"/>
          <p:nvPr>
            <p:ph type="title"/>
          </p:nvPr>
        </p:nvSpPr>
        <p:spPr>
          <a:xfrm>
            <a:off x="838200" y="365125"/>
            <a:ext cx="8384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Performance Evaluation</a:t>
            </a:r>
            <a:endParaRPr/>
          </a:p>
        </p:txBody>
      </p:sp>
      <p:sp>
        <p:nvSpPr>
          <p:cNvPr id="225" name="Google Shape;225;h2133f492c0230d5_0_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6" name="Google Shape;226;h2133f492c0230d5_0_72"/>
          <p:cNvSpPr txBox="1"/>
          <p:nvPr/>
        </p:nvSpPr>
        <p:spPr>
          <a:xfrm>
            <a:off x="838200" y="5748325"/>
            <a:ext cx="105156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and validation performance for </a:t>
            </a:r>
            <a:r>
              <a:rPr i="1"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Version 1</a:t>
            </a:r>
            <a:r>
              <a:rPr lang="it-IT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(Upscaling Factor = 2.0; Activation Function = ReLU) of the model.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h2133f492c0230d5_0_72" title="training_performance_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00" y="2082950"/>
            <a:ext cx="5609825" cy="3366449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h2133f492c0230d5_0_72" title="validation_performance_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2025" y="2082976"/>
            <a:ext cx="5609825" cy="3366391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2133f492c0230d5_0_8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Ablation Study</a:t>
            </a:r>
            <a:endParaRPr/>
          </a:p>
        </p:txBody>
      </p:sp>
      <p:pic>
        <p:nvPicPr>
          <p:cNvPr id="234" name="Google Shape;234;h2133f492c0230d5_0_80" title="ablation_study_1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188" y="1709339"/>
            <a:ext cx="6172201" cy="342967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h2133f492c0230d5_0_80"/>
          <p:cNvSpPr txBox="1"/>
          <p:nvPr>
            <p:ph idx="1" type="body"/>
          </p:nvPr>
        </p:nvSpPr>
        <p:spPr>
          <a:xfrm>
            <a:off x="839800" y="2057400"/>
            <a:ext cx="3932100" cy="146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ablation study confirms that model performance tends to stay </a:t>
            </a:r>
            <a:r>
              <a:rPr b="1" lang="it-IT"/>
              <a:t>unstable at any classification threshold</a:t>
            </a:r>
            <a:r>
              <a:rPr lang="it-IT"/>
              <a:t>, suggesting that transformers might not be suitable for this task.</a:t>
            </a:r>
            <a:endParaRPr/>
          </a:p>
        </p:txBody>
      </p:sp>
      <p:sp>
        <p:nvSpPr>
          <p:cNvPr id="236" name="Google Shape;236;h2133f492c0230d5_0_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7" name="Google Shape;237;h2133f492c0230d5_0_80"/>
          <p:cNvSpPr txBox="1"/>
          <p:nvPr/>
        </p:nvSpPr>
        <p:spPr>
          <a:xfrm>
            <a:off x="5168275" y="5356200"/>
            <a:ext cx="6185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Results of the ablation study for </a:t>
            </a:r>
            <a:r>
              <a:rPr i="1"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Version 1</a:t>
            </a:r>
            <a:r>
              <a:rPr lang="it-IT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model.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38" name="Google Shape;238;h2133f492c0230d5_0_80"/>
          <p:cNvGraphicFramePr/>
          <p:nvPr/>
        </p:nvGraphicFramePr>
        <p:xfrm>
          <a:off x="839800" y="358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{D1D3818C-4761-44A7-8FDD-19982D2B4A81}</a:tableStyleId>
              </a:tblPr>
              <a:tblGrid>
                <a:gridCol w="900750"/>
                <a:gridCol w="303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Version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/>
                        <a:t>Testing F1-Score (μ ± σ)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0.630 </a:t>
                      </a:r>
                      <a:r>
                        <a:rPr lang="it-IT">
                          <a:solidFill>
                            <a:schemeClr val="dk1"/>
                          </a:solidFill>
                        </a:rPr>
                        <a:t>± 0.155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0.644 </a:t>
                      </a:r>
                      <a:r>
                        <a:rPr lang="it-IT">
                          <a:solidFill>
                            <a:schemeClr val="dk1"/>
                          </a:solidFill>
                        </a:rPr>
                        <a:t>± 0.151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0.654 </a:t>
                      </a:r>
                      <a:r>
                        <a:rPr lang="it-IT">
                          <a:solidFill>
                            <a:schemeClr val="dk1"/>
                          </a:solidFill>
                        </a:rPr>
                        <a:t>± 0.154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0.661 </a:t>
                      </a:r>
                      <a:r>
                        <a:rPr lang="it-IT">
                          <a:solidFill>
                            <a:schemeClr val="dk1"/>
                          </a:solidFill>
                        </a:rPr>
                        <a:t>± 0.166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0.660 </a:t>
                      </a:r>
                      <a:r>
                        <a:rPr lang="it-IT">
                          <a:solidFill>
                            <a:schemeClr val="dk1"/>
                          </a:solidFill>
                        </a:rPr>
                        <a:t>± 0.147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/>
                        <a:t>0.664 </a:t>
                      </a:r>
                      <a:r>
                        <a:rPr lang="it-IT">
                          <a:solidFill>
                            <a:schemeClr val="dk1"/>
                          </a:solidFill>
                        </a:rPr>
                        <a:t>± 0.160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24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69076407ddf59f40_0_76"/>
          <p:cNvSpPr txBox="1"/>
          <p:nvPr>
            <p:ph type="title"/>
          </p:nvPr>
        </p:nvSpPr>
        <p:spPr>
          <a:xfrm>
            <a:off x="839788" y="365125"/>
            <a:ext cx="8478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Alternative Architectures</a:t>
            </a:r>
            <a:endParaRPr/>
          </a:p>
        </p:txBody>
      </p:sp>
      <p:sp>
        <p:nvSpPr>
          <p:cNvPr id="244" name="Google Shape;244;h69076407ddf59f40_0_76"/>
          <p:cNvSpPr txBox="1"/>
          <p:nvPr>
            <p:ph idx="1" type="body"/>
          </p:nvPr>
        </p:nvSpPr>
        <p:spPr>
          <a:xfrm>
            <a:off x="838238" y="2814438"/>
            <a:ext cx="51579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Cascaded Network</a:t>
            </a:r>
            <a:endParaRPr/>
          </a:p>
        </p:txBody>
      </p:sp>
      <p:sp>
        <p:nvSpPr>
          <p:cNvPr id="245" name="Google Shape;245;h69076407ddf59f40_0_76"/>
          <p:cNvSpPr txBox="1"/>
          <p:nvPr>
            <p:ph idx="2" type="body"/>
          </p:nvPr>
        </p:nvSpPr>
        <p:spPr>
          <a:xfrm>
            <a:off x="838250" y="3638350"/>
            <a:ext cx="5157900" cy="271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This model consists of a </a:t>
            </a:r>
            <a:r>
              <a:rPr b="1" lang="it-IT" sz="1800"/>
              <a:t>pre-trained </a:t>
            </a:r>
            <a:r>
              <a:rPr b="1" i="1" lang="it-IT" sz="1800"/>
              <a:t>ResNet</a:t>
            </a:r>
            <a:r>
              <a:rPr b="1" lang="it-IT" sz="1800"/>
              <a:t> backbone</a:t>
            </a:r>
            <a:r>
              <a:rPr lang="it-IT" sz="1800"/>
              <a:t> followed by a </a:t>
            </a:r>
            <a:r>
              <a:rPr b="1" lang="it-IT" sz="1800"/>
              <a:t>LSTM network</a:t>
            </a:r>
            <a:r>
              <a:rPr lang="it-IT" sz="1800"/>
              <a:t>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This architecture ended up yielding </a:t>
            </a:r>
            <a:r>
              <a:rPr b="1" lang="it-IT" sz="1800"/>
              <a:t>worse results</a:t>
            </a:r>
            <a:r>
              <a:rPr lang="it-IT" sz="1800"/>
              <a:t> compared to the </a:t>
            </a:r>
            <a:r>
              <a:rPr b="1" lang="it-IT" sz="1800"/>
              <a:t>transformer model</a:t>
            </a:r>
            <a:r>
              <a:rPr lang="it-IT" sz="1800"/>
              <a:t> as it achieved similar metrics but with a higher loss.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A likely cause can be attributed to the fact that cascaded models struggle to generalize on imbalanced data.</a:t>
            </a:r>
            <a:endParaRPr sz="1800"/>
          </a:p>
        </p:txBody>
      </p:sp>
      <p:sp>
        <p:nvSpPr>
          <p:cNvPr id="246" name="Google Shape;246;h69076407ddf59f40_0_76"/>
          <p:cNvSpPr txBox="1"/>
          <p:nvPr>
            <p:ph idx="3" type="body"/>
          </p:nvPr>
        </p:nvSpPr>
        <p:spPr>
          <a:xfrm>
            <a:off x="6170650" y="2814438"/>
            <a:ext cx="51831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Few-Shot Action Detection Model</a:t>
            </a:r>
            <a:endParaRPr/>
          </a:p>
        </p:txBody>
      </p:sp>
      <p:sp>
        <p:nvSpPr>
          <p:cNvPr id="247" name="Google Shape;247;h69076407ddf59f40_0_76"/>
          <p:cNvSpPr txBox="1"/>
          <p:nvPr>
            <p:ph idx="4" type="body"/>
          </p:nvPr>
        </p:nvSpPr>
        <p:spPr>
          <a:xfrm>
            <a:off x="6170653" y="3638350"/>
            <a:ext cx="5183100" cy="271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This model consists of the </a:t>
            </a:r>
            <a:r>
              <a:rPr b="1" i="1" lang="it-IT" sz="1800"/>
              <a:t>Video Vision Transformer</a:t>
            </a:r>
            <a:r>
              <a:rPr b="1" lang="it-IT" sz="1800"/>
              <a:t> backbone</a:t>
            </a:r>
            <a:r>
              <a:rPr lang="it-IT" sz="1800"/>
              <a:t> followed by a </a:t>
            </a:r>
            <a:r>
              <a:rPr b="1" lang="it-IT" sz="1800"/>
              <a:t>temporal cross transformer</a:t>
            </a:r>
            <a:r>
              <a:rPr lang="it-IT" sz="1800"/>
              <a:t>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Training this architecture using episodic learning yields </a:t>
            </a:r>
            <a:r>
              <a:rPr b="1" lang="it-IT" sz="1800"/>
              <a:t>better and more consistent performance</a:t>
            </a:r>
            <a:r>
              <a:rPr lang="it-IT" sz="1800"/>
              <a:t> compared to the transformer model.</a:t>
            </a:r>
            <a:endParaRPr sz="18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800"/>
              <a:t>This suggests that a simpler model can be more viable for this task.</a:t>
            </a:r>
            <a:endParaRPr sz="1800"/>
          </a:p>
        </p:txBody>
      </p:sp>
      <p:sp>
        <p:nvSpPr>
          <p:cNvPr id="248" name="Google Shape;248;h69076407ddf59f40_0_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h69076407ddf59f40_0_76"/>
          <p:cNvSpPr txBox="1"/>
          <p:nvPr/>
        </p:nvSpPr>
        <p:spPr>
          <a:xfrm>
            <a:off x="839800" y="1534350"/>
            <a:ext cx="10514100" cy="892200"/>
          </a:xfrm>
          <a:prstGeom prst="rect">
            <a:avLst/>
          </a:prstGeom>
          <a:noFill/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1000 videos are not enough to properly train a transformer-based architecture</a:t>
            </a:r>
            <a:r>
              <a:rPr lang="it-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the dataset has also been used to </a:t>
            </a:r>
            <a:r>
              <a:rPr b="1" lang="it-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 simpler models</a:t>
            </a:r>
            <a:r>
              <a:rPr lang="it-IT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check whether they could yield more consistent results.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29e629b4cd940c0_0_1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Ablation Study</a:t>
            </a:r>
            <a:endParaRPr/>
          </a:p>
        </p:txBody>
      </p:sp>
      <p:pic>
        <p:nvPicPr>
          <p:cNvPr id="255" name="Google Shape;255;h29e629b4cd940c0_0_18" title="ablation_study_few_shot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188" y="1709339"/>
            <a:ext cx="6172201" cy="342967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h29e629b4cd940c0_0_18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The performance improvement when passing to the few-shot architecture is reflected in the ablation study as well.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Performance </a:t>
            </a:r>
            <a:r>
              <a:rPr b="1" lang="it-IT"/>
              <a:t>slightly decreases</a:t>
            </a:r>
            <a:r>
              <a:rPr lang="it-IT"/>
              <a:t> when using </a:t>
            </a:r>
            <a:r>
              <a:rPr b="1" lang="it-IT"/>
              <a:t>higher classification thresholds</a:t>
            </a:r>
            <a:r>
              <a:rPr lang="it-IT"/>
              <a:t>, but it still </a:t>
            </a:r>
            <a:r>
              <a:rPr b="1" lang="it-IT"/>
              <a:t>outperforms the transformer model</a:t>
            </a:r>
            <a:r>
              <a:rPr lang="it-IT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Fluctuation is also much lower compared to the other structures.</a:t>
            </a:r>
            <a:endParaRPr/>
          </a:p>
        </p:txBody>
      </p:sp>
      <p:sp>
        <p:nvSpPr>
          <p:cNvPr id="257" name="Google Shape;257;h29e629b4cd940c0_0_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29e629b4cd940c0_0_5"/>
          <p:cNvSpPr txBox="1"/>
          <p:nvPr>
            <p:ph type="title"/>
          </p:nvPr>
        </p:nvSpPr>
        <p:spPr>
          <a:xfrm>
            <a:off x="839788" y="365125"/>
            <a:ext cx="84783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Conclusions</a:t>
            </a:r>
            <a:endParaRPr/>
          </a:p>
        </p:txBody>
      </p:sp>
      <p:sp>
        <p:nvSpPr>
          <p:cNvPr id="263" name="Google Shape;263;h29e629b4cd940c0_0_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Strengths</a:t>
            </a:r>
            <a:endParaRPr/>
          </a:p>
        </p:txBody>
      </p:sp>
      <p:sp>
        <p:nvSpPr>
          <p:cNvPr id="264" name="Google Shape;264;h29e629b4cd940c0_0_5"/>
          <p:cNvSpPr txBox="1"/>
          <p:nvPr>
            <p:ph idx="2" type="body"/>
          </p:nvPr>
        </p:nvSpPr>
        <p:spPr>
          <a:xfrm>
            <a:off x="839800" y="2505075"/>
            <a:ext cx="5157900" cy="195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Assessment takes a broader range of symptoms into consideration.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Transfer learning makes this model more computationally viable for large-scale use.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Using synthetic videos allows to comply with data privacy regulations.</a:t>
            </a:r>
            <a:endParaRPr sz="1800"/>
          </a:p>
        </p:txBody>
      </p:sp>
      <p:sp>
        <p:nvSpPr>
          <p:cNvPr id="265" name="Google Shape;265;h29e629b4cd940c0_0_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ln cap="flat" cmpd="sng" w="9525">
            <a:solidFill>
              <a:srgbClr val="82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it-IT"/>
              <a:t>Limitations</a:t>
            </a:r>
            <a:endParaRPr/>
          </a:p>
        </p:txBody>
      </p:sp>
      <p:sp>
        <p:nvSpPr>
          <p:cNvPr id="266" name="Google Shape;266;h29e629b4cd940c0_0_5"/>
          <p:cNvSpPr txBox="1"/>
          <p:nvPr>
            <p:ph idx="4" type="body"/>
          </p:nvPr>
        </p:nvSpPr>
        <p:spPr>
          <a:xfrm>
            <a:off x="6172206" y="2505075"/>
            <a:ext cx="5183100" cy="195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Currently available datasets are too small and often contain different types of information, resulting in less reliable results during training.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-IT" sz="1800"/>
              <a:t>Using transfer learning gives less flexibility during model implementation.</a:t>
            </a:r>
            <a:endParaRPr sz="1800"/>
          </a:p>
        </p:txBody>
      </p:sp>
      <p:sp>
        <p:nvSpPr>
          <p:cNvPr id="267" name="Google Shape;267;h29e629b4cd940c0_0_5"/>
          <p:cNvSpPr txBox="1"/>
          <p:nvPr/>
        </p:nvSpPr>
        <p:spPr>
          <a:xfrm>
            <a:off x="839800" y="4743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Future work can focus on </a:t>
            </a:r>
            <a:r>
              <a:rPr lang="it-IT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exploring different backbones or training settings, as well as studying whether using real videos can yield better performance compared to using synthetic renderings only.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h29e629b4cd940c0_0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5e19b50d_0_2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</a:pPr>
            <a:r>
              <a:rPr lang="it-IT" sz="4800"/>
              <a:t>Thank you for your attention!</a:t>
            </a:r>
            <a:endParaRPr sz="4800"/>
          </a:p>
        </p:txBody>
      </p:sp>
      <p:sp>
        <p:nvSpPr>
          <p:cNvPr id="274" name="Google Shape;274;g3fb5e19b50d_0_2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Gianmaria Romano - 2105539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Supervisor: Professor Marco Raoul Marini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Applied Computer Science and Artificial Intelligence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Sapienza University of Rome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000"/>
              <a:t>Academic Year 2025/2026</a:t>
            </a:r>
            <a:endParaRPr sz="2000"/>
          </a:p>
        </p:txBody>
      </p:sp>
      <p:sp>
        <p:nvSpPr>
          <p:cNvPr id="275" name="Google Shape;275;g3fb5e19b50d_0_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2022-06-29T08:38:04Z</dcterms:created>
  <dc:creator>Marco Raoul Marini</dc:creator>
</cp:coreProperties>
</file>